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 sz="2600">
                <a:solidFill>
                  <a:srgbClr val="00FF41"/>
                </a:solidFill>
                <a:latin typeface="Consolas"/>
              </a:rPr>
              <a:t>&gt; ANALISIS EXPLORATORIO DE DATOS _</a:t>
            </a:r>
          </a:p>
          <a:p>
            <a:r>
              <a:rPr b="1" sz="2600">
                <a:solidFill>
                  <a:srgbClr val="00FF41"/>
                </a:solidFill>
                <a:latin typeface="Consolas"/>
              </a:rPr>
              <a:t>   TITANIC DATASET — 891 PASAJEROS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600">
                <a:solidFill>
                  <a:srgbClr val="00FF41"/>
                </a:solidFill>
                <a:latin typeface="Consolas"/>
              </a:rPr>
              <a:t>Extraccion de Caracteristicas y Presentacion de Resultados</a:t>
            </a:r>
          </a:p>
          <a:p/>
          <a:p>
            <a:r>
              <a:rPr sz="1600">
                <a:solidFill>
                  <a:srgbClr val="00FF41"/>
                </a:solidFill>
                <a:latin typeface="Consolas"/>
              </a:rPr>
              <a:t>[+] Estudiante:   Alex Guaman</a:t>
            </a:r>
          </a:p>
          <a:p>
            <a:r>
              <a:rPr sz="1600">
                <a:solidFill>
                  <a:srgbClr val="00FF41"/>
                </a:solidFill>
                <a:latin typeface="Consolas"/>
              </a:rPr>
              <a:t>[+] Asignatura:   Inteligencia Artificial / Machine Learning</a:t>
            </a:r>
          </a:p>
          <a:p>
            <a:r>
              <a:rPr sz="1600">
                <a:solidFill>
                  <a:srgbClr val="00FF41"/>
                </a:solidFill>
                <a:latin typeface="Consolas"/>
              </a:rPr>
              <a:t>[+] Docente:      Ing. Remigio Hurtado, PhD.</a:t>
            </a:r>
          </a:p>
          <a:p>
            <a:r>
              <a:rPr sz="1600">
                <a:solidFill>
                  <a:srgbClr val="00FF41"/>
                </a:solidFill>
                <a:latin typeface="Consolas"/>
              </a:rPr>
              <a:t>[+] Dataset:      Titanic — Kaggle / Seaborn</a:t>
            </a:r>
          </a:p>
          <a:p>
            <a:r>
              <a:rPr sz="1600">
                <a:solidFill>
                  <a:srgbClr val="00FF41"/>
                </a:solidFill>
                <a:latin typeface="Consolas"/>
              </a:rPr>
              <a:t>[+] Instancias:   891 pasajeros  |  15 variables</a:t>
            </a:r>
          </a:p>
          <a:p>
            <a:r>
              <a:rPr sz="1600">
                <a:solidFill>
                  <a:srgbClr val="00FF41"/>
                </a:solidFill>
                <a:latin typeface="Consolas"/>
              </a:rPr>
              <a:t>[+] Variable Y:   survived  (0=No sobrevivio | 1=Sobrevivio)</a:t>
            </a:r>
          </a:p>
          <a:p>
            <a:r>
              <a:rPr sz="1600">
                <a:solidFill>
                  <a:srgbClr val="00FF41"/>
                </a:solidFill>
                <a:latin typeface="Consolas"/>
              </a:rPr>
              <a:t>[+] Herramienta:  Python 3 — pandas, seaborn, matplotlib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1182319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FF41"/>
                </a:solidFill>
                <a:latin typeface="Consolas"/>
              </a:rPr>
              <a:t>&gt; 1. DESCRIPCION DEL DATASET _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859536"/>
            <a:ext cx="11823192" cy="20000"/>
          </a:xfrm>
          <a:prstGeom prst="rect">
            <a:avLst/>
          </a:prstGeom>
          <a:noFill/>
          <a:ln w="15240">
            <a:solidFill>
              <a:srgbClr val="00FF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492240"/>
            <a:ext cx="118231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07A1E"/>
                </a:solidFill>
                <a:latin typeface="Consolas"/>
              </a:rPr>
              <a:t>[ RUBRICA: Criterio 1 — Descripcion detallada y clara del dataset y variable Y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96012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FF41"/>
                </a:solidFill>
                <a:latin typeface="Consolas"/>
              </a:rPr>
              <a:t>ORIGEN: Titanic — Kaggle / Seaborn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Conjunto de datos historico del naufragio del RMS Titanic (15 Abril 1912)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TAMANO DEL DATASET: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Observaciones: 891 pasajeros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Variables:     15 atributos (6 numericas + 7 categoricas + 2 bool)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VARIABLE OBJETIVO Y: survived (SOBREVIVIO)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0 = No sobrevivio → 549 pasajeros (61.6%)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1 = Sobrevivio    → 342 pasajeros (38.4%)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Tipo: clasificacion binaria con desequilibrio moderado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VARIABLES PREDICTORAS CLAVE: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sex    (SEXO):   male/female — predictor mas fuerte  [r=-0.54]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pclass (CLASE):  1, 2, 3 — clase socioeconomica      [r=-0.34]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fare   (TARIFA): 0-512 GBP — poder adquisitivo       [r=+0.26]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age    (EDAD):   0.4-80 anos (19.8% nulos imputados)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embarked (PUERTO): C=Cherbourg, Q=Queenstown, S=Southampton</a:t>
            </a:r>
          </a:p>
        </p:txBody>
      </p:sp>
      <p:pic>
        <p:nvPicPr>
          <p:cNvPr id="7" name="Picture 6" descr="slide1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914400"/>
            <a:ext cx="6126480" cy="224292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1182319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FF41"/>
                </a:solidFill>
                <a:latin typeface="Consolas"/>
              </a:rPr>
              <a:t>&gt; 2. CONCLUSIONES DEL RESUMEN ESTADISTICO _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859536"/>
            <a:ext cx="11823192" cy="20000"/>
          </a:xfrm>
          <a:prstGeom prst="rect">
            <a:avLst/>
          </a:prstGeom>
          <a:noFill/>
          <a:ln w="15240">
            <a:solidFill>
              <a:srgbClr val="00FF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492240"/>
            <a:ext cx="118231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07A1E"/>
                </a:solidFill>
                <a:latin typeface="Consolas"/>
              </a:rPr>
              <a:t>[ RUBRICA: Criterio 2 — Conclusiones detalladas y profundas con justificacion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960120"/>
            <a:ext cx="57607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FF41"/>
                </a:solidFill>
                <a:latin typeface="Consolas"/>
              </a:rPr>
              <a:t>CLASE (pclass) — Media: 2.31 | Std: 0.84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La mayoria de pasajeros eran de 3ra clase. Refleja la composicion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del Titanic: inmigrantes y obreros hacia America en 1912.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EDAD (age) — Media: 29.7 | Mediana: 28 | Std: 14.5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Distribucion aprox. normal. Rango 0.4-80 anos. 177 nulos (19.8%)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imputados con la mediana (robusta a outliers).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TARIFA (fare) — Media: 32.2 GBP | Mediana: 14.4 GBP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Distribucion SESGADA a la derecha (asimetria positiva).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Media &gt;&gt; Mediana indica presencia de outliers extremos.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Rango: 0 GBP (tripulacion) → 512 GBP (Suite de lujo 1ra clase).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Diferencia relativa: 35x entre minimo y maximo significativo.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SOBREVIVIO (Y) — 38.4% (342/891)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Desequilibrio moderado 61.6/38.4. No critico para modelado,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pero se recomienda usar F1-score y AUC-ROC como metricas.</a:t>
            </a:r>
          </a:p>
        </p:txBody>
      </p:sp>
      <p:pic>
        <p:nvPicPr>
          <p:cNvPr id="7" name="Picture 6" descr="slide2_estad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914400"/>
            <a:ext cx="5852160" cy="18103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1182319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FF41"/>
                </a:solidFill>
                <a:latin typeface="Consolas"/>
              </a:rPr>
              <a:t>&gt; 3. CONCLUSIONES DE VISUALIZACION _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859536"/>
            <a:ext cx="11823192" cy="20000"/>
          </a:xfrm>
          <a:prstGeom prst="rect">
            <a:avLst/>
          </a:prstGeom>
          <a:noFill/>
          <a:ln w="15240">
            <a:solidFill>
              <a:srgbClr val="00FF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492240"/>
            <a:ext cx="118231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07A1E"/>
                </a:solidFill>
                <a:latin typeface="Consolas"/>
              </a:rPr>
              <a:t>[ RUBRICA: Criterio 3 — Analisis exhaustivo de visualizaciones y su impacto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960120"/>
            <a:ext cx="57607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FF41"/>
                </a:solidFill>
                <a:latin typeface="Consolas"/>
              </a:rPr>
              <a:t>SCATTER (EDAD vs TARIFA, color=SOBREVIVIO):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Los supervivientes se agrupan en TARIFAS ALTAS sin importar la edad.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→ TARIFA predice mejor que EDAD individualmente.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La separacion imperfecta entre clases indica que se necesitan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multiples variables combinadas para un clasificador optimo.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BOXPLOT (TARIFA por SOBREVIVIO):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Mediana supervivientes: ~26 GBP vs no supervivientes: ~10 GBP.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Diferencia 2.5x entre grupos — estadisticamente significativa.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Confirma TARIFA como variable discriminante de alta importancia.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HISTOGRAMAS (EDAD y TARIFA):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EDAD: aprox. normal, pico en 20-35 anos (pasajeros adultos jovenes).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TARIFA: distribucion Pareto — 87% pago &lt;65 GBP, minoria elite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con tarifas &gt;100 GBP representan pasajeros de suites de lujo.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SUPERVIVENCIA POR SEXO x CLASE: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Mujeres 1ra clase: 96.5% | Hombres 3ra clase: 13.5% — diferencia 83pp.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Confirma que la interseccion genero+clase fue determinante.</a:t>
            </a:r>
          </a:p>
        </p:txBody>
      </p:sp>
      <p:pic>
        <p:nvPicPr>
          <p:cNvPr id="7" name="Picture 6" descr="slide3_visu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914400"/>
            <a:ext cx="5852160" cy="195827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1182319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FF41"/>
                </a:solidFill>
                <a:latin typeface="Consolas"/>
              </a:rPr>
              <a:t>&gt; 4. ANALISIS DE FRECUENCIA DE CATEGORIAS _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859536"/>
            <a:ext cx="11823192" cy="20000"/>
          </a:xfrm>
          <a:prstGeom prst="rect">
            <a:avLst/>
          </a:prstGeom>
          <a:noFill/>
          <a:ln w="15240">
            <a:solidFill>
              <a:srgbClr val="00FF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492240"/>
            <a:ext cx="118231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07A1E"/>
                </a:solidFill>
                <a:latin typeface="Consolas"/>
              </a:rPr>
              <a:t>[ RUBRICA: Criterio 4 — Analisis completo y bien justificado de las categorias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960120"/>
            <a:ext cx="53949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FF41"/>
                </a:solidFill>
                <a:latin typeface="Consolas"/>
              </a:rPr>
              <a:t>SEXO: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Mujeres (314): 74.2% sobrevivieron (233/314)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Hombres (577): 18.9% sobrevivieron (109/577)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Brecha: 55.3pp — protocolo "mujeres y ninos primero" confirmado.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CLASE: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1ra (216): 62.9% | 2da (184): 47.3% | 3ra (491): 24.2%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Caida de 38.7pp entre 1ra y 3ra clase.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Camarotes de 3ra clase ubicados en niveles inferiores del barco.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PUERTO DE EMBARQUE: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Cherbourg (168): 55.4% | Queenstown (77): 38.9% | Southampton (646): 33.7%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Cherbourg: mayor proporcion de 1ra clase y pasajeras femeninas.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El puerto en si no es predictor causal — es proxy de clase+sexo.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SINTESIS: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La supervivencia en el Titanic fue una funcion de genero Y clase social.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No fue un evento aleatorio — fue sistematicamente desigual.</a:t>
            </a:r>
          </a:p>
        </p:txBody>
      </p:sp>
      <p:pic>
        <p:nvPicPr>
          <p:cNvPr id="7" name="Picture 6" descr="slide4_categor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914400"/>
            <a:ext cx="6217920" cy="19291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1182319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FF41"/>
                </a:solidFill>
                <a:latin typeface="Consolas"/>
              </a:rPr>
              <a:t>&gt; 5. TOP 3 VARIABLES CORRELACIONADAS CON Y (SURVIVED) _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859536"/>
            <a:ext cx="11823192" cy="20000"/>
          </a:xfrm>
          <a:prstGeom prst="rect">
            <a:avLst/>
          </a:prstGeom>
          <a:noFill/>
          <a:ln w="15240">
            <a:solidFill>
              <a:srgbClr val="00FF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492240"/>
            <a:ext cx="118231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07A1E"/>
                </a:solidFill>
                <a:latin typeface="Consolas"/>
              </a:rPr>
              <a:t>[ RUBRICA: Criterio 5 — Analisis profundo de correlaciones y sus implicaciones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960120"/>
            <a:ext cx="57607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FF41"/>
                </a:solidFill>
                <a:latin typeface="Consolas"/>
              </a:rPr>
              <a:t>METODO: Coeficiente de correlacion de Pearson (r)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|r|&gt;0.5=fuerte | 0.3&lt;|r|&lt;0.5=moderado | |r|&lt;0.3=debil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#1  sex_num   r = -0.543  [CORRELACION FUERTE NEGATIVA]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  Ser masculino es el predictor lineal mas potente del NO-supervivir.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  Supera el umbral de correlacion fuerte. Variable indispensable.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#2  pclass    r = -0.338  [CORRELACION MODERADA-ALTA NEGATIVA]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  A mayor numero de clase (3&gt;2&gt;1) menor supervivencia.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  La clase social condiciono el acceso a los botes salvavidas.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#3  fare      r = +0.257  [CORRELACION MODERADA POSITIVA]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  Mayor tarifa = mayor status = mayor supervivencia.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  Es proxy inverso de pclass (multicolinealidad moderada r=-0.55).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VARIABLES DEBILES (informativas para modelos no lineales):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  age: r=-0.061  |  fam_size: r=-0.016  |  alone: r=+0.194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Las 3 variables capturan el fenomeno de desigualdad de genero y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clase que domino la evacuacion del Titanic en Abril de 1912.</a:t>
            </a:r>
          </a:p>
        </p:txBody>
      </p:sp>
      <p:pic>
        <p:nvPicPr>
          <p:cNvPr id="7" name="Picture 6" descr="slide5_correl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914400"/>
            <a:ext cx="5852160" cy="224153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1182319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FF41"/>
                </a:solidFill>
                <a:latin typeface="Consolas"/>
              </a:rPr>
              <a:t>&gt; 6. ANALISIS DE OUTLIERS — DECISION Y JUSTIFICACION _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859536"/>
            <a:ext cx="11823192" cy="20000"/>
          </a:xfrm>
          <a:prstGeom prst="rect">
            <a:avLst/>
          </a:prstGeom>
          <a:noFill/>
          <a:ln w="15240">
            <a:solidFill>
              <a:srgbClr val="00FF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492240"/>
            <a:ext cx="118231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07A1E"/>
                </a:solidFill>
                <a:latin typeface="Consolas"/>
              </a:rPr>
              <a:t>[ RUBRICA: Criterio 6 — Analisis completo y justificado sobre la eliminacion de outliers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960120"/>
            <a:ext cx="57607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FF41"/>
                </a:solidFill>
                <a:latin typeface="Consolas"/>
              </a:rPr>
              <a:t>METODO: Tukey IQR (lim = Q3 + 1.5 x IQR)</a:t>
            </a:r>
          </a:p>
          <a:p/>
          <a:p>
            <a:r>
              <a:rPr sz="1200">
                <a:solidFill>
                  <a:srgbClr val="00FF41"/>
                </a:solidFill>
                <a:latin typeface="Consolas"/>
              </a:rPr>
              <a:t>TARIFA:  Q1=7.9 | Q3=31.0 | IQR=23.1 | Lim=65.7 GBP</a:t>
            </a:r>
          </a:p>
          <a:p>
            <a:r>
              <a:rPr sz="1200">
                <a:solidFill>
                  <a:srgbClr val="00FF41"/>
                </a:solidFill>
                <a:latin typeface="Consolas"/>
              </a:rPr>
              <a:t>  Outliers: ~116 pasajeros (13%) | Maximo: 512 GBP</a:t>
            </a:r>
          </a:p>
          <a:p/>
          <a:p>
            <a:r>
              <a:rPr sz="1200">
                <a:solidFill>
                  <a:srgbClr val="00FF41"/>
                </a:solidFill>
                <a:latin typeface="Consolas"/>
              </a:rPr>
              <a:t>EDAD:    Q1=22 | Q3=35 | IQR=13 | Lim=54.5 anos</a:t>
            </a:r>
          </a:p>
          <a:p>
            <a:r>
              <a:rPr sz="1200">
                <a:solidFill>
                  <a:srgbClr val="00FF41"/>
                </a:solidFill>
                <a:latin typeface="Consolas"/>
              </a:rPr>
              <a:t>  Outliers: ~11 pasajeros (1.2%) | Maximo: 80 anos</a:t>
            </a:r>
          </a:p>
          <a:p/>
          <a:p>
            <a:r>
              <a:rPr sz="1200">
                <a:solidFill>
                  <a:srgbClr val="00FF41"/>
                </a:solidFill>
                <a:latin typeface="Consolas"/>
              </a:rPr>
              <a:t>DECISION: NO ELIMINAR LOS OUTLIERS</a:t>
            </a:r>
          </a:p>
          <a:p/>
          <a:p>
            <a:r>
              <a:rPr sz="1200">
                <a:solidFill>
                  <a:srgbClr val="00FF41"/>
                </a:solidFill>
                <a:latin typeface="Consolas"/>
              </a:rPr>
              <a:t>Justificacion (4 razones):</a:t>
            </a:r>
          </a:p>
          <a:p>
            <a:r>
              <a:rPr sz="1200">
                <a:solidFill>
                  <a:srgbClr val="00FF41"/>
                </a:solidFill>
                <a:latin typeface="Consolas"/>
              </a:rPr>
              <a:t>1. HISTORICA: cada outlier es un pasajero real documentado.</a:t>
            </a:r>
          </a:p>
          <a:p>
            <a:r>
              <a:rPr sz="1200">
                <a:solidFill>
                  <a:srgbClr val="00FF41"/>
                </a:solidFill>
                <a:latin typeface="Consolas"/>
              </a:rPr>
              <a:t>   Tarifas extremas = suites de lujo reales (Suite Millonarios).</a:t>
            </a:r>
          </a:p>
          <a:p>
            <a:r>
              <a:rPr sz="1200">
                <a:solidFill>
                  <a:srgbClr val="00FF41"/>
                </a:solidFill>
                <a:latin typeface="Consolas"/>
              </a:rPr>
              <a:t>2. PREDICTIVA: outliers de TARIFA correlacionan con supervivencia</a:t>
            </a:r>
          </a:p>
          <a:p>
            <a:r>
              <a:rPr sz="1200">
                <a:solidFill>
                  <a:srgbClr val="00FF41"/>
                </a:solidFill>
                <a:latin typeface="Consolas"/>
              </a:rPr>
              <a:t>   (r=+0.26). Eliminarlos borraria informacion critica del modelo.</a:t>
            </a:r>
          </a:p>
          <a:p>
            <a:r>
              <a:rPr sz="1200">
                <a:solidFill>
                  <a:srgbClr val="00FF41"/>
                </a:solidFill>
                <a:latin typeface="Consolas"/>
              </a:rPr>
              <a:t>3. ALGORITMICA: modelos de arboles (Random Forest, XGBoost) son</a:t>
            </a:r>
          </a:p>
          <a:p>
            <a:r>
              <a:rPr sz="1200">
                <a:solidFill>
                  <a:srgbClr val="00FF41"/>
                </a:solidFill>
                <a:latin typeface="Consolas"/>
              </a:rPr>
              <a:t>   intrisecamente robustos ante outliers — no requieren eliminacion.</a:t>
            </a:r>
          </a:p>
          <a:p>
            <a:r>
              <a:rPr sz="1200">
                <a:solidFill>
                  <a:srgbClr val="00FF41"/>
                </a:solidFill>
                <a:latin typeface="Consolas"/>
              </a:rPr>
              <a:t>4. ESTADISTICA: TARIFA sigue dist. de Pareto, no normal.</a:t>
            </a:r>
          </a:p>
          <a:p>
            <a:r>
              <a:rPr sz="1200">
                <a:solidFill>
                  <a:srgbClr val="00FF41"/>
                </a:solidFill>
                <a:latin typeface="Consolas"/>
              </a:rPr>
              <a:t>   Criterio IQR diseñado para normales → exceso de falsos positivos.</a:t>
            </a:r>
          </a:p>
        </p:txBody>
      </p:sp>
      <p:pic>
        <p:nvPicPr>
          <p:cNvPr id="7" name="Picture 6" descr="slide6_out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914400"/>
            <a:ext cx="5852160" cy="240016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82880" y="91440"/>
            <a:ext cx="1182319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FF41"/>
                </a:solidFill>
                <a:latin typeface="Consolas"/>
              </a:rPr>
              <a:t>&gt; 7. HIPOTESIS (SUPUESTOS) INICIALES — DETERMINAR Y CON NUEVOS EJEMPLOS _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859536"/>
            <a:ext cx="11823192" cy="20000"/>
          </a:xfrm>
          <a:prstGeom prst="rect">
            <a:avLst/>
          </a:prstGeom>
          <a:noFill/>
          <a:ln w="15240">
            <a:solidFill>
              <a:srgbClr val="00FF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492240"/>
            <a:ext cx="118231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07A1E"/>
                </a:solidFill>
                <a:latin typeface="Consolas"/>
              </a:rPr>
              <a:t>[ RUBRICA: Criterio 7 — Hipotesis solidas, bien justificadas con ejemplos y evidencia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960120"/>
            <a:ext cx="11731752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FF41"/>
                </a:solidFill>
                <a:latin typeface="Consolas"/>
              </a:rPr>
              <a:t>H1 — GENERO: "Las mujeres tienen P(Y=1) significativamente mayor."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Evidencia: 74.2% mujeres vs 18.9% hombres | r=-0.543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Ejemplo: mujer, 25 años, 1ra clase → P(Y=1) ≈ 97%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H2 — CLASE: "Pasajeros 1ra clase tienen mayor P(Y=1) por acceso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prioritario a botes salvavidas y ubicacion en cubierta superior."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Evidencia: 62.9% vs 47.3% vs 24.2% | r=-0.338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Ejemplo: hombre, 3ra clase → P(Y=1) ≈ 13.5%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H3 — TARIFA: "Mayor tarifa implica mayor status y mayor P(Y=1)."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Evidencia: mediana surv.=26 GBP vs no-surv.=10 GBP | r=+0.257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H4 — PUERTO: "El puerto es proxy de clase/genero, no causa directa."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Evidencia: Cherbourg=55.4% por mayor proporcion 1ra clase ahi.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H5 — FAMILIA: "Familias 2-4 miembros tienen ligera ventaja sobre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solitarios o grupos grandes por apoyo mutuo en evacuacion."</a:t>
            </a:r>
          </a:p>
          <a:p/>
          <a:p>
            <a:r>
              <a:rPr sz="1300">
                <a:solidFill>
                  <a:srgbClr val="00FF41"/>
                </a:solidFill>
                <a:latin typeface="Consolas"/>
              </a:rPr>
              <a:t>NUEVO EJEMPLO PREDICTIVO: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Pasajero: sexo=male, clase=3, edad=35, tarifa=8 GBP, solo</a:t>
            </a:r>
          </a:p>
          <a:p>
            <a:r>
              <a:rPr sz="1300">
                <a:solidFill>
                  <a:srgbClr val="00FF41"/>
                </a:solidFill>
                <a:latin typeface="Consolas"/>
              </a:rPr>
              <a:t>  Prediccion hipotetica: P(Y=1) ≈ BAJA (~15%) por H1+H2+H3.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