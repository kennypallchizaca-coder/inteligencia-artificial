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2800">
                <a:solidFill>
                  <a:srgbClr val="00FF41"/>
                </a:solidFill>
                <a:latin typeface="Consolas"/>
              </a:rPr>
              <a:t>&gt; ANALISIS EXPLORATORIO DE DATOS _</a:t>
            </a:r>
          </a:p>
          <a:p>
            <a:r>
              <a:rPr b="1" sz="2800">
                <a:solidFill>
                  <a:srgbClr val="00FF41"/>
                </a:solidFill>
                <a:latin typeface="Consolas"/>
              </a:rPr>
              <a:t>[ TITANIC DATASET 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700">
                <a:solidFill>
                  <a:srgbClr val="00FF41"/>
                </a:solidFill>
                <a:latin typeface="Consolas"/>
              </a:rPr>
              <a:t>Extraccion de Caracteristicas y Presentacion de Resultados</a:t>
            </a:r>
          </a:p>
          <a:p/>
          <a:p>
            <a:r>
              <a:rPr sz="1700">
                <a:solidFill>
                  <a:srgbClr val="00FF41"/>
                </a:solidFill>
                <a:latin typeface="Consolas"/>
              </a:rPr>
              <a:t>[+] Estudiante: Alex Guaman</a:t>
            </a:r>
          </a:p>
          <a:p>
            <a:r>
              <a:rPr sz="1700">
                <a:solidFill>
                  <a:srgbClr val="00FF41"/>
                </a:solidFill>
                <a:latin typeface="Consolas"/>
              </a:rPr>
              <a:t>[+] Asignatura: Inteligencia Artificial - Machine Learning</a:t>
            </a:r>
          </a:p>
          <a:p>
            <a:r>
              <a:rPr sz="1700">
                <a:solidFill>
                  <a:srgbClr val="00FF41"/>
                </a:solidFill>
                <a:latin typeface="Consolas"/>
              </a:rPr>
              <a:t>[+] Docente: Ing. Remigio Hurtado, PhD.</a:t>
            </a:r>
          </a:p>
          <a:p>
            <a:r>
              <a:rPr sz="1700">
                <a:solidFill>
                  <a:srgbClr val="00FF41"/>
                </a:solidFill>
                <a:latin typeface="Consolas"/>
              </a:rPr>
              <a:t>[+] Dataset: Titanic - Kaggle / Seaborn (891 obs. x 15 vars.)</a:t>
            </a:r>
          </a:p>
          <a:p>
            <a:r>
              <a:rPr sz="1700">
                <a:solidFill>
                  <a:srgbClr val="00FF41"/>
                </a:solidFill>
                <a:latin typeface="Consolas"/>
              </a:rPr>
              <a:t>[+] Variable Y: survived  (0 = No Sobrevivio | 1 = Sobrevivio)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FF41"/>
                </a:solidFill>
                <a:latin typeface="Consolas"/>
              </a:rPr>
              <a:t>&gt; 1. DESCRIPCION DEL DATASET _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11612880" cy="25000"/>
          </a:xfrm>
          <a:prstGeom prst="rect">
            <a:avLst/>
          </a:prstGeom>
          <a:noFill/>
          <a:ln w="12700"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56692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FF41"/>
                </a:solidFill>
                <a:latin typeface="Consolas"/>
              </a:rPr>
              <a:t>Origen: Kaggle / Seaborn — Pasajeros del RMS Titanic (15 Abril 1912)</a:t>
            </a:r>
          </a:p>
          <a:p/>
          <a:p>
            <a:r>
              <a:rPr sz="1400" b="0">
                <a:solidFill>
                  <a:srgbClr val="00FF41"/>
                </a:solidFill>
                <a:latin typeface="Consolas"/>
              </a:rPr>
              <a:t>Tamano del dataset: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- Observaciones: 891 pasajeros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- Variables: 15 atributos originales</a:t>
            </a:r>
          </a:p>
          <a:p/>
          <a:p>
            <a:r>
              <a:rPr sz="1400" b="0">
                <a:solidFill>
                  <a:srgbClr val="00FF41"/>
                </a:solidFill>
                <a:latin typeface="Consolas"/>
              </a:rPr>
              <a:t>Variable de estudio Y (objetivo): SOBREVIVIO (survived)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- 0 = No sobrevivio   |   1 = Sobrevivio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- Distribucion: 61.6% No sobrevivio vs. 38.4% Sobrevivio</a:t>
            </a:r>
          </a:p>
          <a:p/>
          <a:p>
            <a:r>
              <a:rPr sz="1400" b="0">
                <a:solidFill>
                  <a:srgbClr val="00FF41"/>
                </a:solidFill>
                <a:latin typeface="Consolas"/>
              </a:rPr>
              <a:t>Variables mas relevantes: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- CLASE (pclass): 1ra, 2da, 3ra clase del boleto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- SEXO (sex): male / female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- EDAD (age): 0.42 - 80 anos  [177 valores faltantes imputados]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- TARIFA (fare): 0 - 512 libras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- PUERTO (embarked): C = Cherbourg, Q = Queenstown, S = Southampton</a:t>
            </a:r>
          </a:p>
        </p:txBody>
      </p:sp>
      <p:pic>
        <p:nvPicPr>
          <p:cNvPr id="6" name="Picture 5" descr="A_distribucion_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60120"/>
            <a:ext cx="5669280" cy="37324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FF41"/>
                </a:solidFill>
                <a:latin typeface="Consolas"/>
              </a:rPr>
              <a:t>&gt; 2. CONCLUSIONES DEL RESUMEN ESTADISTICO _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11612880" cy="25000"/>
          </a:xfrm>
          <a:prstGeom prst="rect">
            <a:avLst/>
          </a:prstGeom>
          <a:noFill/>
          <a:ln w="12700"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116128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0FF41"/>
                </a:solidFill>
                <a:latin typeface="Consolas"/>
              </a:rPr>
              <a:t>Tasa de Supervivencia:</a:t>
            </a:r>
          </a:p>
          <a:p>
            <a:r>
              <a:rPr sz="1500" b="0">
                <a:solidFill>
                  <a:srgbClr val="00FF41"/>
                </a:solidFill>
                <a:latin typeface="Consolas"/>
              </a:rPr>
              <a:t>  Solo el 38.4% (342/891) sobrevivio — desequilibrio moderado, aceptable para modelado.</a:t>
            </a:r>
          </a:p>
          <a:p/>
          <a:p>
            <a:r>
              <a:rPr sz="1500" b="0">
                <a:solidFill>
                  <a:srgbClr val="00FF41"/>
                </a:solidFill>
                <a:latin typeface="Consolas"/>
              </a:rPr>
              <a:t>Variable CLASE (pclass):</a:t>
            </a:r>
          </a:p>
          <a:p>
            <a:r>
              <a:rPr sz="1500" b="0">
                <a:solidFill>
                  <a:srgbClr val="00FF41"/>
                </a:solidFill>
                <a:latin typeface="Consolas"/>
              </a:rPr>
              <a:t>  Media = 2.31 — la mayoria de pasajeros eran de 3ra clase (recursos limitados).</a:t>
            </a:r>
          </a:p>
          <a:p/>
          <a:p>
            <a:r>
              <a:rPr sz="1500" b="0">
                <a:solidFill>
                  <a:srgbClr val="00FF41"/>
                </a:solidFill>
                <a:latin typeface="Consolas"/>
              </a:rPr>
              <a:t>Variable EDAD (age):</a:t>
            </a:r>
          </a:p>
          <a:p>
            <a:r>
              <a:rPr sz="1500" b="0">
                <a:solidFill>
                  <a:srgbClr val="00FF41"/>
                </a:solidFill>
                <a:latin typeface="Consolas"/>
              </a:rPr>
              <a:t>  Media ~29.7 anos, Desv. Std. ~14.5. Rango: 0.42 - 80 anos.</a:t>
            </a:r>
          </a:p>
          <a:p>
            <a:r>
              <a:rPr sz="1500" b="0">
                <a:solidFill>
                  <a:srgbClr val="00FF41"/>
                </a:solidFill>
                <a:latin typeface="Consolas"/>
              </a:rPr>
              <a:t>  Distribucion aproximadamente normal, sesgo leve a la derecha.</a:t>
            </a:r>
          </a:p>
          <a:p/>
          <a:p>
            <a:r>
              <a:rPr sz="1500" b="0">
                <a:solidFill>
                  <a:srgbClr val="00FF41"/>
                </a:solidFill>
                <a:latin typeface="Consolas"/>
              </a:rPr>
              <a:t>Variable TARIFA (fare):</a:t>
            </a:r>
          </a:p>
          <a:p>
            <a:r>
              <a:rPr sz="1500" b="0">
                <a:solidFill>
                  <a:srgbClr val="00FF41"/>
                </a:solidFill>
                <a:latin typeface="Consolas"/>
              </a:rPr>
              <a:t>  Media ~32 GBP  vs.  Mediana ~14 GBP — distribucion SESGADA a la derecha.</a:t>
            </a:r>
          </a:p>
          <a:p>
            <a:r>
              <a:rPr sz="1500" b="0">
                <a:solidFill>
                  <a:srgbClr val="00FF41"/>
                </a:solidFill>
                <a:latin typeface="Consolas"/>
              </a:rPr>
              <a:t>  Minimo: 0 GBP  |  Maximo: 512 GBP  — refleja desigualdad socioeconomica extrema.</a:t>
            </a:r>
          </a:p>
          <a:p/>
          <a:p>
            <a:r>
              <a:rPr sz="1500" b="0">
                <a:solidFill>
                  <a:srgbClr val="00FF41"/>
                </a:solidFill>
                <a:latin typeface="Consolas"/>
              </a:rPr>
              <a:t>Variables familiares (sibsp, parch):</a:t>
            </a:r>
          </a:p>
          <a:p>
            <a:r>
              <a:rPr sz="1500" b="0">
                <a:solidFill>
                  <a:srgbClr val="00FF41"/>
                </a:solidFill>
                <a:latin typeface="Consolas"/>
              </a:rPr>
              <a:t>  Moda = 0 en ambas — la mayoria viajaba sin familia a bordo.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FF41"/>
                </a:solidFill>
                <a:latin typeface="Consolas"/>
              </a:rPr>
              <a:t>&gt; 3. CONCLUSIONES DE VISUALIZACION _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12880" cy="25000"/>
          </a:xfrm>
          <a:prstGeom prst="rect">
            <a:avLst/>
          </a:prstGeom>
          <a:noFill/>
          <a:ln w="12700"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60350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FF41"/>
                </a:solidFill>
                <a:latin typeface="Consolas"/>
              </a:rPr>
              <a:t>Countplot (variable Y - SOBREVIVIO):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Desequilibrio moderado 61.6% / 38.4% — aceptable para modelado sin sobremuestreo.</a:t>
            </a:r>
          </a:p>
          <a:p/>
          <a:p>
            <a:r>
              <a:rPr sz="1400" b="0">
                <a:solidFill>
                  <a:srgbClr val="00FF41"/>
                </a:solidFill>
                <a:latin typeface="Consolas"/>
              </a:rPr>
              <a:t>Scatter plot 2D (EDAD vs TARIFA):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Los supervivientes (verde) se concentran en tarifas altas, sin importar la edad.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Confirma que TARIFA es mejor predictor que EDAD individualmente.</a:t>
            </a:r>
          </a:p>
          <a:p/>
          <a:p>
            <a:r>
              <a:rPr sz="1400" b="0">
                <a:solidFill>
                  <a:srgbClr val="00FF41"/>
                </a:solidFill>
                <a:latin typeface="Consolas"/>
              </a:rPr>
              <a:t>Histograma (EDAD):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Distribucion aproximadamente normal, pico en 20-35 anos.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La mayoria de pasajeros era poblacion adulta joven.</a:t>
            </a:r>
          </a:p>
          <a:p/>
          <a:p>
            <a:r>
              <a:rPr sz="1400" b="0">
                <a:solidFill>
                  <a:srgbClr val="00FF41"/>
                </a:solidFill>
                <a:latin typeface="Consolas"/>
              </a:rPr>
              <a:t>Boxplots (TARIFA y EDAD segun SOBREVIVIO):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La mediana de TARIFA de supervivientes (~26 GBP) es 2.5x mayor que la de no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supervivientes (~10 GBP) — diferencia altamente significativa y visualmente clara.</a:t>
            </a:r>
          </a:p>
        </p:txBody>
      </p:sp>
      <p:pic>
        <p:nvPicPr>
          <p:cNvPr id="5" name="Picture 4" descr="viz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960120"/>
            <a:ext cx="5394960" cy="19579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FF41"/>
                </a:solidFill>
                <a:latin typeface="Consolas"/>
              </a:rPr>
              <a:t>&gt; 4. ANALISIS DE FRECUENCIA DE CATEGORIAS _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11612880" cy="25000"/>
          </a:xfrm>
          <a:prstGeom prst="rect">
            <a:avLst/>
          </a:prstGeom>
          <a:noFill/>
          <a:ln w="12700"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54864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FF41"/>
                </a:solidFill>
                <a:latin typeface="Consolas"/>
              </a:rPr>
              <a:t>SEXO: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Mujeres: sobrevivieron 74.2% | Hombres: sobrevivieron solo 18.9%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Brecha de 55 puntos porcentuales — maxima diferencia del dataset.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Refleja la aplicacion del protocolo 'mujeres y ninos primero'.</a:t>
            </a:r>
          </a:p>
          <a:p/>
          <a:p>
            <a:r>
              <a:rPr sz="1400" b="0">
                <a:solidFill>
                  <a:srgbClr val="00FF41"/>
                </a:solidFill>
                <a:latin typeface="Consolas"/>
              </a:rPr>
              <a:t>CLASE: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1ra clase: 62.9% | 2da clase: 47.3% | 3ra clase: 24.2%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Gradiente decreciente — el nivel socioeconomico condicionó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directamente el acceso a los botes salvavidas.</a:t>
            </a:r>
          </a:p>
          <a:p/>
          <a:p>
            <a:r>
              <a:rPr sz="1400" b="0">
                <a:solidFill>
                  <a:srgbClr val="00FF41"/>
                </a:solidFill>
                <a:latin typeface="Consolas"/>
              </a:rPr>
              <a:t>PUERTO DE EMBARQUE: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Cherbourg (C): 55.4% | Queenstown (Q): 38.9% | Southampton (S): 33.7%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Diferencia explicada por la mayor proporcion de 1ra clase en Cherbourg.</a:t>
            </a:r>
          </a:p>
        </p:txBody>
      </p:sp>
      <p:pic>
        <p:nvPicPr>
          <p:cNvPr id="6" name="Picture 5" descr="B_categor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960120"/>
            <a:ext cx="6035040" cy="18504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FF41"/>
                </a:solidFill>
                <a:latin typeface="Consolas"/>
              </a:rPr>
              <a:t>&gt; 5. TOP 3 VARIABLES CORRELACIONADAS CON Y (SURVIVED) _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11612880" cy="25000"/>
          </a:xfrm>
          <a:prstGeom prst="rect">
            <a:avLst/>
          </a:prstGeom>
          <a:noFill/>
          <a:ln w="12700"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6217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FF41"/>
                </a:solidFill>
                <a:latin typeface="Consolas"/>
              </a:rPr>
              <a:t>CORRELACIONES NEGATIVAS (predicen NO supervivencia):</a:t>
            </a:r>
          </a:p>
          <a:p/>
          <a:p>
            <a:r>
              <a:rPr sz="1400" b="0">
                <a:solidFill>
                  <a:srgbClr val="00FF41"/>
                </a:solidFill>
                <a:latin typeface="Consolas"/>
              </a:rPr>
              <a:t>  1. sex_num    r = -0.543   [MAS FUERTE]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   Ser masculino tiene la correlacion negativa mas intensa con la supervivencia.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   Sustenta matematicamente el protocolo de evacuacion de genero.</a:t>
            </a:r>
          </a:p>
          <a:p/>
          <a:p>
            <a:r>
              <a:rPr sz="1400" b="0">
                <a:solidFill>
                  <a:srgbClr val="00FF41"/>
                </a:solidFill>
                <a:latin typeface="Consolas"/>
              </a:rPr>
              <a:t>  2. pclass     r = -0.338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   A mayor numero de clase (mayor pobreza), menor probabilidad de sobrevivir.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   La clase social fue literalmente una variable de vida o muerte.</a:t>
            </a:r>
          </a:p>
          <a:p/>
          <a:p>
            <a:r>
              <a:rPr sz="1400" b="0">
                <a:solidFill>
                  <a:srgbClr val="00FF41"/>
                </a:solidFill>
                <a:latin typeface="Consolas"/>
              </a:rPr>
              <a:t>CORRELACIONES POSITIVAS (predicen supervivencia):</a:t>
            </a:r>
          </a:p>
          <a:p/>
          <a:p>
            <a:r>
              <a:rPr sz="1400" b="0">
                <a:solidFill>
                  <a:srgbClr val="00FF41"/>
                </a:solidFill>
                <a:latin typeface="Consolas"/>
              </a:rPr>
              <a:t>  3. fare       r = +0.257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   Mayor tarifa = mayor estatus socioeconomico = mayor acceso a botes.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   Proxy inverso de pclass — confirman el mismo fenomeno.</a:t>
            </a:r>
          </a:p>
          <a:p/>
          <a:p>
            <a:r>
              <a:rPr sz="1400" b="0">
                <a:solidFill>
                  <a:srgbClr val="00FF41"/>
                </a:solidFill>
                <a:latin typeface="Consolas"/>
              </a:rPr>
              <a:t>Nota: age (r=-0.06) tiene correlacion casi nula — la edad sola no predice.</a:t>
            </a:r>
          </a:p>
        </p:txBody>
      </p:sp>
      <p:pic>
        <p:nvPicPr>
          <p:cNvPr id="6" name="Picture 5" descr="C_correl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960120"/>
            <a:ext cx="5394960" cy="44612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FF41"/>
                </a:solidFill>
                <a:latin typeface="Consolas"/>
              </a:rPr>
              <a:t>&gt; 6. ANALISIS DE OUTLIERS _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11612880" cy="25000"/>
          </a:xfrm>
          <a:prstGeom prst="rect">
            <a:avLst/>
          </a:prstGeom>
          <a:noFill/>
          <a:ln w="12700"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58521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FF41"/>
                </a:solidFill>
                <a:latin typeface="Consolas"/>
              </a:rPr>
              <a:t>Deteccion con Metodo Tukey-IQR:</a:t>
            </a:r>
          </a:p>
          <a:p/>
          <a:p>
            <a:r>
              <a:rPr sz="1400" b="0">
                <a:solidFill>
                  <a:srgbClr val="00FF41"/>
                </a:solidFill>
                <a:latin typeface="Consolas"/>
              </a:rPr>
              <a:t>  TARIFA (fare):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  Q1=7.9 | Q3=31.0 | IQR=23.1 | Lim. sup.=65.7 GBP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  Outliers: ~116 pasajeros (13%) — valores hasta 512 GBP</a:t>
            </a:r>
          </a:p>
          <a:p/>
          <a:p>
            <a:r>
              <a:rPr sz="1400" b="0">
                <a:solidFill>
                  <a:srgbClr val="00FF41"/>
                </a:solidFill>
                <a:latin typeface="Consolas"/>
              </a:rPr>
              <a:t>  EDAD (age):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  Q1=22 | Q3=35 | IQR=13 | Lim. sup.=54.5 anos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  Outliers: ~10 pasajeros (&lt;2%) — valores hasta 80 anos</a:t>
            </a:r>
          </a:p>
          <a:p/>
          <a:p>
            <a:r>
              <a:rPr sz="1400" b="0">
                <a:solidFill>
                  <a:srgbClr val="00FF41"/>
                </a:solidFill>
                <a:latin typeface="Consolas"/>
              </a:rPr>
              <a:t>DECISION: NO ELIMINAR los outliers. Justificacion: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1. Integridad historica: corresponden a personas reales documentadas.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2. Relevancia predictiva: los outliers de TARIFA correlacionan directamente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   con SOBREVIVIO — eliminarlos borraria informacion critica del modelo.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3. Robustez: algoritmos de arboles (Random Forest, XGBoost) son tolerantes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   a outliers y los usan como puntos de decision valiosos.</a:t>
            </a:r>
          </a:p>
        </p:txBody>
      </p:sp>
      <p:pic>
        <p:nvPicPr>
          <p:cNvPr id="6" name="Picture 5" descr="D_outl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60120"/>
            <a:ext cx="5760720" cy="23058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FF41"/>
                </a:solidFill>
                <a:latin typeface="Consolas"/>
              </a:rPr>
              <a:t>&gt; 7. HIPOTESIS (SUPUESTOS) INICIALES PARA DETERMINAR Y _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11612880" cy="25000"/>
          </a:xfrm>
          <a:prstGeom prst="rect">
            <a:avLst/>
          </a:prstGeom>
          <a:noFill/>
          <a:ln w="12700"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116128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FF41"/>
                </a:solidFill>
                <a:latin typeface="Consolas"/>
              </a:rPr>
              <a:t>H1 — DESIGUALDAD DE GENERO: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'Las mujeres tienen mayor P(SOBREVIVIO=1) por la regla de evacuacion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 mujeres y ninos primero.'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Evidencia: r_sex = -0.54 | Brecha de 55pp entre tasas.</a:t>
            </a:r>
          </a:p>
          <a:p/>
          <a:p>
            <a:r>
              <a:rPr sz="1400" b="0">
                <a:solidFill>
                  <a:srgbClr val="00FF41"/>
                </a:solidFill>
                <a:latin typeface="Consolas"/>
              </a:rPr>
              <a:t>H2 — CLASE SOCIOECONOMICA: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'Los pasajeros de 1ra clase tuvieron acceso prioritario a botes salvavidas.'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Evidencia: r_class = -0.34 | Tasas: 62.9% vs 47.3% vs 24.2%.</a:t>
            </a:r>
          </a:p>
          <a:p/>
          <a:p>
            <a:r>
              <a:rPr sz="1400" b="0">
                <a:solidFill>
                  <a:srgbClr val="00FF41"/>
                </a:solidFill>
                <a:latin typeface="Consolas"/>
              </a:rPr>
              <a:t>H3 — TARIFA COMO PROXY DE RIQUEZA: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'Mayor tarifa pagada implica mayor status y mayor probabilidad de sobrevivir.'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Evidencia: r_fare = +0.26 | Mediana fare: supervivientes 2.5x mayor.</a:t>
            </a:r>
          </a:p>
          <a:p/>
          <a:p>
            <a:r>
              <a:rPr sz="1400" b="0">
                <a:solidFill>
                  <a:srgbClr val="00FF41"/>
                </a:solidFill>
                <a:latin typeface="Consolas"/>
              </a:rPr>
              <a:t>H4 — PUERTO COMO INDICADOR SOCIAL: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'Cherbourg -&gt; mas pasajeros 1ra clase -&gt; mayor supervivencia.'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Evidencia: 55.4% (C) vs 33.7% (S).</a:t>
            </a:r>
          </a:p>
          <a:p/>
          <a:p>
            <a:r>
              <a:rPr sz="1400" b="0">
                <a:solidFill>
                  <a:srgbClr val="00FF41"/>
                </a:solidFill>
                <a:latin typeface="Consolas"/>
              </a:rPr>
              <a:t>H5 — FAMILIA PEQUEÑA: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'Familias de 2-4 miembros tuvieron ligera ventaja sobre viajeros solos o grupos grandes.'</a:t>
            </a:r>
          </a:p>
          <a:p>
            <a:r>
              <a:rPr sz="1400" b="0">
                <a:solidFill>
                  <a:srgbClr val="00FF41"/>
                </a:solidFill>
                <a:latin typeface="Consolas"/>
              </a:rPr>
              <a:t>  Evidencia: segmentacion muestra tasas diferenciadas por tamano de grupo.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